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Results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C5F2D"/>
              </a:solidFill>
              <a:effectLst/>
            </c:spPr>
          </c:dPt>
          <c:dPt>
            <c:idx val="1"/>
            <c:bubble3D val="0"/>
            <c:spPr>
              <a:solidFill>
                <a:srgbClr val="B44B3C"/>
              </a:solidFill>
              <a:effectLst/>
            </c:spPr>
          </c:dPt>
          <c:dPt>
            <c:idx val="2"/>
            <c:bubble3D val="0"/>
            <c:spPr>
              <a:solidFill>
                <a:srgbClr val="C9821A"/>
              </a:solidFill>
              <a:effectLst/>
            </c:spPr>
          </c:dPt>
          <c:dLbls>
            <c:dLbl>
              <c:idx val="0"/>
              <c:numFmt formatCode="0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Pass</c:v>
                </c:pt>
                <c:pt idx="1">
                  <c:v>Fail</c:v>
                </c:pt>
                <c:pt idx="2">
                  <c:v>Blocked (resolved)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13</c:v>
                </c:pt>
                <c:pt idx="1">
                  <c:v>2</c:v>
                </c:pt>
                <c:pt idx="2">
                  <c:v>1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0261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C9821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026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9821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44B3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9821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C5F2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B908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FB8AA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Blocker
(resolved)</c:v>
                  </c:pt>
                  <c:pt idx="1">
                    <c:v>High</c:v>
                  </c:pt>
                  <c:pt idx="2">
                    <c:v>Medium-
High</c:v>
                  </c:pt>
                  <c:pt idx="3">
                    <c:v>Medium</c:v>
                  </c:pt>
                  <c:pt idx="4">
                    <c:v>Low /
Intermittent</c:v>
                  </c:pt>
                  <c:pt idx="5">
                    <c:v>Info /
Observation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1</c:v>
                </c:pt>
                <c:pt idx="5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20261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0261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2C5F2D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6B9080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14400"/>
            <a:ext cx="822960" cy="8229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945" y="1021385"/>
            <a:ext cx="608990" cy="6089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1031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Zuna E-Commerce QA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28803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F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Defense — Final Testing Summary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22960" y="51206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F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SkillShikshya QA Batch 10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F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Sunday, 16 August 2026  |  3:00 – 5:00 PM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F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Anita Singh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0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F1F5F2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69164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17320" y="162763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Scope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202996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tested, and how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F1F5F2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46520" y="169164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086600" y="162763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 &amp; Execution Results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86600" y="202996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Scenarios, cases, and outcomes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88036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F1F5F2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310896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17320" y="304495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Defects &amp; Findings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17320" y="344728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found, and how severe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17920" y="288036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F1F5F2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46520" y="310896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086600" y="304495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&amp; Cross-Browser Testing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86600" y="344728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regression + responsive checks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29768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F1F5F2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77240" y="452628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526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417320" y="446227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Performance, Security &amp; Database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17320" y="486460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test results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17920" y="429768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F1F5F2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46520" y="452628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0" name="Text 28"/>
          <p:cNvSpPr/>
          <p:nvPr/>
        </p:nvSpPr>
        <p:spPr>
          <a:xfrm>
            <a:off x="6446520" y="4526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086600" y="446227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Risks, Recommendations &amp; Conclusion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086600" y="486460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next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Zuna E-commerce QA — SkillShikshya Batch 10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502920"/>
            <a:ext cx="822960" cy="822960"/>
          </a:xfrm>
          <a:prstGeom prst="ellipse">
            <a:avLst/>
          </a:prstGeom>
          <a:solidFill>
            <a:srgbClr val="6B908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905" y="609905"/>
            <a:ext cx="608990" cy="6089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50876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02920" y="251460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D9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QA of the Zuna fashion e-commerce platform — from storefront browsing through order placement, across web, API, and database layers.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44348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site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02920" y="467258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zunadesigns.com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02920" y="49651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02920" y="520293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crm.zunadesigns.com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02920" y="54955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" y="573328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base.zunadesigns.com/api/docs/swagger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02920" y="602589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account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02920" y="62636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Anita Singh (anitasingha753@gmail.com)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663440" y="50292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Covered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4663440" y="1316736"/>
            <a:ext cx="109728" cy="1097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7" name="Text 14"/>
          <p:cNvSpPr/>
          <p:nvPr/>
        </p:nvSpPr>
        <p:spPr>
          <a:xfrm>
            <a:off x="4937760" y="118872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Storefront browsing, product detail, cart &amp; checkout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4663440" y="1892808"/>
            <a:ext cx="109728" cy="1097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9" name="Text 16"/>
          <p:cNvSpPr/>
          <p:nvPr/>
        </p:nvSpPr>
        <p:spPr>
          <a:xfrm>
            <a:off x="4937760" y="1764792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placement via Cash on Delivery, incl. OTP verification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4663440" y="2468880"/>
            <a:ext cx="109728" cy="1097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1" name="Text 18"/>
          <p:cNvSpPr/>
          <p:nvPr/>
        </p:nvSpPr>
        <p:spPr>
          <a:xfrm>
            <a:off x="4937760" y="2340864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 configuration (eSewa, Khalti, Fonepay, COD)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4663440" y="3044952"/>
            <a:ext cx="109728" cy="1097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3" name="Text 20"/>
          <p:cNvSpPr/>
          <p:nvPr/>
        </p:nvSpPr>
        <p:spPr>
          <a:xfrm>
            <a:off x="4937760" y="2916936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order, return &amp; product data management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4663440" y="3621024"/>
            <a:ext cx="109728" cy="1097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5" name="Text 22"/>
          <p:cNvSpPr/>
          <p:nvPr/>
        </p:nvSpPr>
        <p:spPr>
          <a:xfrm>
            <a:off x="4937760" y="3493008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endpoints (Swagger)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4663440" y="4197096"/>
            <a:ext cx="109728" cy="1097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7" name="Text 24"/>
          <p:cNvSpPr/>
          <p:nvPr/>
        </p:nvSpPr>
        <p:spPr>
          <a:xfrm>
            <a:off x="4937760" y="406908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security checks (auth &amp; access control)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4663440" y="4773168"/>
            <a:ext cx="109728" cy="1097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9" name="Text 26"/>
          <p:cNvSpPr/>
          <p:nvPr/>
        </p:nvSpPr>
        <p:spPr>
          <a:xfrm>
            <a:off x="4937760" y="4645152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consistency between storefront and CRM</a:t>
            </a:r>
            <a:endParaRPr lang="en-US" sz="1350" dirty="0"/>
          </a:p>
        </p:txBody>
      </p:sp>
      <p:sp>
        <p:nvSpPr>
          <p:cNvPr id="30" name="Shape 27"/>
          <p:cNvSpPr/>
          <p:nvPr/>
        </p:nvSpPr>
        <p:spPr>
          <a:xfrm>
            <a:off x="4663440" y="5349240"/>
            <a:ext cx="109728" cy="1097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1" name="Text 28"/>
          <p:cNvSpPr/>
          <p:nvPr/>
        </p:nvSpPr>
        <p:spPr>
          <a:xfrm>
            <a:off x="4937760" y="5221224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under light concurrent load</a:t>
            </a:r>
            <a:endParaRPr lang="en-US" sz="1350" dirty="0"/>
          </a:p>
        </p:txBody>
      </p:sp>
      <p:sp>
        <p:nvSpPr>
          <p:cNvPr id="32" name="Shape 29"/>
          <p:cNvSpPr/>
          <p:nvPr/>
        </p:nvSpPr>
        <p:spPr>
          <a:xfrm>
            <a:off x="4663440" y="5925312"/>
            <a:ext cx="109728" cy="1097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3" name="Text 30"/>
          <p:cNvSpPr/>
          <p:nvPr/>
        </p:nvSpPr>
        <p:spPr>
          <a:xfrm>
            <a:off x="4937760" y="5797296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Cross-browser &amp; responsive rendering (desktop, tablet, mobile)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Approach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deliverables spanning functional, technical, and automated testing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1F5F2"/>
          </a:solidFill>
          <a:ln/>
        </p:spPr>
      </p:sp>
      <p:sp>
        <p:nvSpPr>
          <p:cNvPr id="5" name="Shape 3"/>
          <p:cNvSpPr/>
          <p:nvPr/>
        </p:nvSpPr>
        <p:spPr>
          <a:xfrm>
            <a:off x="1485900" y="192024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0998" y="2015338"/>
            <a:ext cx="541325" cy="5413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743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31089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plan, 104 scenarios, 16 executed cases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83280" y="16916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1F5F2"/>
          </a:solidFill>
          <a:ln/>
        </p:spPr>
      </p:sp>
      <p:sp>
        <p:nvSpPr>
          <p:cNvPr id="10" name="Shape 7"/>
          <p:cNvSpPr/>
          <p:nvPr/>
        </p:nvSpPr>
        <p:spPr>
          <a:xfrm>
            <a:off x="4320540" y="192024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5638" y="2015338"/>
            <a:ext cx="541325" cy="5413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2743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Tracking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520440" y="31089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bugs &amp; observations logged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17920" y="16916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1F5F2"/>
          </a:solidFill>
          <a:ln/>
        </p:spPr>
      </p:sp>
      <p:sp>
        <p:nvSpPr>
          <p:cNvPr id="15" name="Shape 11"/>
          <p:cNvSpPr/>
          <p:nvPr/>
        </p:nvSpPr>
        <p:spPr>
          <a:xfrm>
            <a:off x="7155180" y="192024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0278" y="2015338"/>
            <a:ext cx="541325" cy="5413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55080" y="2743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355080" y="31089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endpoint tests via Swagger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052560" y="16916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1F5F2"/>
          </a:solidFill>
          <a:ln/>
        </p:spPr>
      </p:sp>
      <p:sp>
        <p:nvSpPr>
          <p:cNvPr id="20" name="Shape 15"/>
          <p:cNvSpPr/>
          <p:nvPr/>
        </p:nvSpPr>
        <p:spPr>
          <a:xfrm>
            <a:off x="9989820" y="192024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4918" y="2015338"/>
            <a:ext cx="541325" cy="5413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89720" y="2743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189720" y="31089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baseline auth/access checks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406908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1F5F2"/>
          </a:solidFill>
          <a:ln/>
        </p:spPr>
      </p:sp>
      <p:sp>
        <p:nvSpPr>
          <p:cNvPr id="25" name="Shape 19"/>
          <p:cNvSpPr/>
          <p:nvPr/>
        </p:nvSpPr>
        <p:spPr>
          <a:xfrm>
            <a:off x="1485900" y="429768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0998" y="4392778"/>
            <a:ext cx="541325" cy="54132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85800" y="51206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685800" y="54864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JMeter load test, 20 samples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3383280" y="406908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1F5F2"/>
          </a:solidFill>
          <a:ln/>
        </p:spPr>
      </p:sp>
      <p:sp>
        <p:nvSpPr>
          <p:cNvPr id="30" name="Shape 23"/>
          <p:cNvSpPr/>
          <p:nvPr/>
        </p:nvSpPr>
        <p:spPr>
          <a:xfrm>
            <a:off x="4320540" y="429768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5638" y="4392778"/>
            <a:ext cx="541325" cy="54132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520440" y="51206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3520440" y="54864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CRM consistency checks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6217920" y="406908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1F5F2"/>
          </a:solidFill>
          <a:ln/>
        </p:spPr>
      </p:sp>
      <p:sp>
        <p:nvSpPr>
          <p:cNvPr id="35" name="Shape 27"/>
          <p:cNvSpPr/>
          <p:nvPr/>
        </p:nvSpPr>
        <p:spPr>
          <a:xfrm>
            <a:off x="7155180" y="429768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50278" y="4392778"/>
            <a:ext cx="541325" cy="541325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355080" y="51206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400" dirty="0"/>
          </a:p>
        </p:txBody>
      </p:sp>
      <p:sp>
        <p:nvSpPr>
          <p:cNvPr id="38" name="Text 29"/>
          <p:cNvSpPr/>
          <p:nvPr/>
        </p:nvSpPr>
        <p:spPr>
          <a:xfrm>
            <a:off x="6355080" y="54864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core-flow regression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9052560" y="406908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1F5F2"/>
          </a:solidFill>
          <a:ln/>
        </p:spPr>
      </p:sp>
      <p:sp>
        <p:nvSpPr>
          <p:cNvPr id="40" name="Shape 31"/>
          <p:cNvSpPr/>
          <p:nvPr/>
        </p:nvSpPr>
        <p:spPr>
          <a:xfrm>
            <a:off x="9989820" y="429768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4918" y="4392778"/>
            <a:ext cx="541325" cy="541325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189720" y="51206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Cross-Browser</a:t>
            </a:r>
            <a:endParaRPr lang="en-US" sz="1400" dirty="0"/>
          </a:p>
        </p:txBody>
      </p:sp>
      <p:sp>
        <p:nvSpPr>
          <p:cNvPr id="43" name="Text 33"/>
          <p:cNvSpPr/>
          <p:nvPr/>
        </p:nvSpPr>
        <p:spPr>
          <a:xfrm>
            <a:off x="9189720" y="54864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browser/viewport configurations</a:t>
            </a:r>
            <a:endParaRPr lang="en-US" sz="1050" dirty="0"/>
          </a:p>
        </p:txBody>
      </p:sp>
      <p:sp>
        <p:nvSpPr>
          <p:cNvPr id="44" name="Text 3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Zuna E-commerce QA — SkillShikshya Batch 10</a:t>
            </a:r>
            <a:endParaRPr lang="en-US" sz="900" dirty="0"/>
          </a:p>
        </p:txBody>
      </p:sp>
      <p:sp>
        <p:nvSpPr>
          <p:cNvPr id="45" name="Text 35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3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by the Numbers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20452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7373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C98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104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F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scenarios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F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43400" y="150876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20452B"/>
          </a:solidFill>
          <a:ln/>
        </p:spPr>
      </p:sp>
      <p:sp>
        <p:nvSpPr>
          <p:cNvPr id="7" name="Text 5"/>
          <p:cNvSpPr/>
          <p:nvPr/>
        </p:nvSpPr>
        <p:spPr>
          <a:xfrm>
            <a:off x="4526280" y="17373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C98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26280" y="274320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F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F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38160" y="150876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20452B"/>
          </a:solidFill>
          <a:ln/>
        </p:spPr>
      </p:sp>
      <p:sp>
        <p:nvSpPr>
          <p:cNvPr id="10" name="Text 8"/>
          <p:cNvSpPr/>
          <p:nvPr/>
        </p:nvSpPr>
        <p:spPr>
          <a:xfrm>
            <a:off x="8321040" y="17373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C98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8321040" y="274320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F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&amp; observations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F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20452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2519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C98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731520" y="525780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F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 under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F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(JMeter)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43400" y="402336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20452B"/>
          </a:solidFill>
          <a:ln/>
        </p:spPr>
      </p:sp>
      <p:sp>
        <p:nvSpPr>
          <p:cNvPr id="16" name="Text 14"/>
          <p:cNvSpPr/>
          <p:nvPr/>
        </p:nvSpPr>
        <p:spPr>
          <a:xfrm>
            <a:off x="4526280" y="42519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C98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302ms</a:t>
            </a:r>
            <a:endParaRPr lang="en-US" sz="4600" dirty="0"/>
          </a:p>
        </p:txBody>
      </p:sp>
      <p:sp>
        <p:nvSpPr>
          <p:cNvPr id="17" name="Text 15"/>
          <p:cNvSpPr/>
          <p:nvPr/>
        </p:nvSpPr>
        <p:spPr>
          <a:xfrm>
            <a:off x="4526280" y="525780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F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API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F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38160" y="402336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20452B"/>
          </a:solidFill>
          <a:ln/>
        </p:spPr>
      </p:sp>
      <p:sp>
        <p:nvSpPr>
          <p:cNvPr id="19" name="Text 17"/>
          <p:cNvSpPr/>
          <p:nvPr/>
        </p:nvSpPr>
        <p:spPr>
          <a:xfrm>
            <a:off x="8321040" y="42519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C98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600" dirty="0"/>
          </a:p>
        </p:txBody>
      </p:sp>
      <p:sp>
        <p:nvSpPr>
          <p:cNvPr id="20" name="Text 18"/>
          <p:cNvSpPr/>
          <p:nvPr/>
        </p:nvSpPr>
        <p:spPr>
          <a:xfrm>
            <a:off x="8321040" y="525780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F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/ viewport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F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configurations tested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Zuna E-commerce QA — SkillShikshya Batch 10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Zuna E-commerce QA — SkillShikshya Batch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Execution Results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functional test cases executed against the core customer journey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37360"/>
          <a:ext cx="45720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577840" y="178308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Notes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577840" y="2286000"/>
            <a:ext cx="6035040" cy="914400"/>
          </a:xfrm>
          <a:prstGeom prst="roundRect">
            <a:avLst>
              <a:gd name="adj" fmla="val 6000"/>
            </a:avLst>
          </a:prstGeom>
          <a:solidFill>
            <a:srgbClr val="F1F5F2"/>
          </a:solidFill>
          <a:ln/>
        </p:spPr>
      </p:sp>
      <p:sp>
        <p:nvSpPr>
          <p:cNvPr id="7" name="Text 4"/>
          <p:cNvSpPr/>
          <p:nvPr/>
        </p:nvSpPr>
        <p:spPr>
          <a:xfrm>
            <a:off x="5806440" y="2395728"/>
            <a:ext cx="5577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admin credential documented as invalid — resolved with correct credential (BUG-000).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577840" y="3383280"/>
            <a:ext cx="6035040" cy="914400"/>
          </a:xfrm>
          <a:prstGeom prst="roundRect">
            <a:avLst>
              <a:gd name="adj" fmla="val 6000"/>
            </a:avLst>
          </a:prstGeom>
          <a:solidFill>
            <a:srgbClr val="F1F5F2"/>
          </a:solidFill>
          <a:ln/>
        </p:spPr>
      </p:sp>
      <p:sp>
        <p:nvSpPr>
          <p:cNvPr id="9" name="Text 6"/>
          <p:cNvSpPr/>
          <p:nvPr/>
        </p:nvSpPr>
        <p:spPr>
          <a:xfrm>
            <a:off x="5806440" y="3493008"/>
            <a:ext cx="5577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eSewa/Khalti missing at checkout traced to a CRM configuration toggle, not a code defect (BUG-001).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577840" y="4480560"/>
            <a:ext cx="6035040" cy="914400"/>
          </a:xfrm>
          <a:prstGeom prst="roundRect">
            <a:avLst>
              <a:gd name="adj" fmla="val 6000"/>
            </a:avLst>
          </a:prstGeom>
          <a:solidFill>
            <a:srgbClr val="F1F5F2"/>
          </a:solidFill>
          <a:ln/>
        </p:spPr>
      </p:sp>
      <p:sp>
        <p:nvSpPr>
          <p:cNvPr id="11" name="Text 8"/>
          <p:cNvSpPr/>
          <p:nvPr/>
        </p:nvSpPr>
        <p:spPr>
          <a:xfrm>
            <a:off x="5806440" y="4590288"/>
            <a:ext cx="5577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previously blocked case was unblocked once CRM access was restored and re-executed successfully.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Zuna E-commerce QA — SkillShikshya Batch 10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Defect Severity Breakdown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items logged — most are medium priority or informational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109728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Zuna E-commerce QA — SkillShikshya Batch 10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Notable Findings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1F5F2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50876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563" y="1580083"/>
            <a:ext cx="405994" cy="40599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48132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BUG-008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508760" y="17830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Medium-High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77240" y="224028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"Top Selling Products" widget references a product that no longer exists — an orphaned database record.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17920" y="128016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1F5F2"/>
          </a:solidFill>
          <a:ln/>
        </p:spPr>
      </p:sp>
      <p:sp>
        <p:nvSpPr>
          <p:cNvPr id="10" name="Shape 7"/>
          <p:cNvSpPr/>
          <p:nvPr/>
        </p:nvSpPr>
        <p:spPr>
          <a:xfrm>
            <a:off x="6446520" y="150876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843" y="1580083"/>
            <a:ext cx="405994" cy="4059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148132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BUG-006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178040" y="17830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446520" y="224028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ONMMIC shows Payment "Failed" but Delivery "Delivered" — a payment/fulfillment data mismatch.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384048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1F5F2"/>
          </a:solidFill>
          <a:ln/>
        </p:spPr>
      </p:sp>
      <p:sp>
        <p:nvSpPr>
          <p:cNvPr id="16" name="Shape 12"/>
          <p:cNvSpPr/>
          <p:nvPr/>
        </p:nvSpPr>
        <p:spPr>
          <a:xfrm>
            <a:off x="777240" y="406908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" y="4140403"/>
            <a:ext cx="405994" cy="40599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404164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BUG-002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508760" y="43434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777240" y="480060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UI exists for customers to submit a product review after purchase.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217920" y="384048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1F5F2"/>
          </a:solidFill>
          <a:ln/>
        </p:spPr>
      </p:sp>
      <p:sp>
        <p:nvSpPr>
          <p:cNvPr id="22" name="Shape 17"/>
          <p:cNvSpPr/>
          <p:nvPr/>
        </p:nvSpPr>
        <p:spPr>
          <a:xfrm>
            <a:off x="6446520" y="406908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7843" y="4140403"/>
            <a:ext cx="405994" cy="40599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178040" y="404164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BUG-001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7178040" y="43434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Reclassified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6446520" y="480060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eSewa/Khalti missing at checkout — confirmed as a CRM configuration toggle, not a code bug.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Zuna E-commerce QA — SkillShikshya Batch 10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50292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 Testing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+ TypeScript, Page Object Model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65760" cy="365760"/>
          </a:xfrm>
          <a:prstGeom prst="ellipse">
            <a:avLst/>
          </a:prstGeom>
          <a:solidFill>
            <a:srgbClr val="F1F5F2"/>
          </a:solidFill>
          <a:ln w="19050">
            <a:solidFill>
              <a:srgbClr val="2C5F2D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76479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with valid credentials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365760" cy="365760"/>
          </a:xfrm>
          <a:prstGeom prst="ellipse">
            <a:avLst/>
          </a:prstGeom>
          <a:solidFill>
            <a:srgbClr val="F1F5F2"/>
          </a:solidFill>
          <a:ln w="19050">
            <a:solidFill>
              <a:srgbClr val="2C5F2D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240487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store → open product → select variant → add to bag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063240"/>
            <a:ext cx="365760" cy="365760"/>
          </a:xfrm>
          <a:prstGeom prst="ellipse">
            <a:avLst/>
          </a:prstGeom>
          <a:solidFill>
            <a:srgbClr val="F1F5F2"/>
          </a:solidFill>
          <a:ln w="19050">
            <a:solidFill>
              <a:srgbClr val="2C5F2D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4864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304495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Checkout: contact details, cascading Province/City/Area address selection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365760" cy="365760"/>
          </a:xfrm>
          <a:prstGeom prst="ellipse">
            <a:avLst/>
          </a:prstGeom>
          <a:solidFill>
            <a:srgbClr val="F1F5F2"/>
          </a:solidFill>
          <a:ln w="19050">
            <a:solidFill>
              <a:srgbClr val="2C5F2D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48640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368503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Cash on Delivery, submit order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343400"/>
            <a:ext cx="365760" cy="365760"/>
          </a:xfrm>
          <a:prstGeom prst="ellipse">
            <a:avLst/>
          </a:prstGeom>
          <a:solidFill>
            <a:srgbClr val="F1F5F2"/>
          </a:solidFill>
          <a:ln w="19050">
            <a:solidFill>
              <a:srgbClr val="2C5F2D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48640" y="4343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432511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order reaches OTP verification stage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166360"/>
            <a:ext cx="6949440" cy="1371600"/>
          </a:xfrm>
          <a:prstGeom prst="roundRect">
            <a:avLst>
              <a:gd name="adj" fmla="val 5333"/>
            </a:avLst>
          </a:prstGeom>
          <a:solidFill>
            <a:srgbClr val="F1F5F2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77240" y="53949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" y="5454396"/>
            <a:ext cx="338328" cy="33832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371600" y="534924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limitation: SMS OTP verification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1371600" y="5650992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confirmation requires a live SMS OTP, which cannot be automated without gateway access. The test validates successful submission through OTP-stage arrival — the furthest point verifiable end-to-end.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8229600" y="640080"/>
            <a:ext cx="914400" cy="914400"/>
          </a:xfrm>
          <a:prstGeom prst="ellipse">
            <a:avLst/>
          </a:prstGeom>
          <a:solidFill>
            <a:srgbClr val="17331F"/>
          </a:solidFill>
          <a:ln/>
        </p:spPr>
        <p:txBody>
          <a:bodyPr/>
          <a:p/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472" y="758952"/>
            <a:ext cx="676656" cy="676656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8138160" y="18288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/ 1</a:t>
            </a:r>
            <a:endParaRPr lang="en-US" sz="5000" dirty="0"/>
          </a:p>
        </p:txBody>
      </p:sp>
      <p:sp>
        <p:nvSpPr>
          <p:cNvPr id="28" name="Text 24"/>
          <p:cNvSpPr/>
          <p:nvPr/>
        </p:nvSpPr>
        <p:spPr>
          <a:xfrm>
            <a:off x="8138160" y="27432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F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flow scenario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F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and passing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8138160" y="4023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8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25.2s</a:t>
            </a:r>
            <a:endParaRPr lang="en-US" sz="2600" dirty="0"/>
          </a:p>
        </p:txBody>
      </p:sp>
      <p:sp>
        <p:nvSpPr>
          <p:cNvPr id="30" name="Text 26"/>
          <p:cNvSpPr/>
          <p:nvPr/>
        </p:nvSpPr>
        <p:spPr>
          <a:xfrm>
            <a:off x="8138160" y="4572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time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Zuna E-commerce QA — SkillShikshya Batch 10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Zuna E-commerce QA — SkillShikshya Batch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850" y="586130"/>
            <a:ext cx="473659" cy="4736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Cross-Browser &amp; Responsive Testing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37160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flow validated across 6 browser / viewport configurations — all passing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1F5F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6596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19202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Chromium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234440" y="22860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· 1280×720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731520" y="2651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343400" y="178308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1F5F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196596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029200" y="19202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Firefox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5029200" y="22860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· 1280×720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4526280" y="2651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8138160" y="178308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1F5F2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196596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823960" y="19202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WebKit / Safari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8823960" y="22860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· 1280×720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8321040" y="2651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548640" y="338328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1F5F2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566160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234440" y="35204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Chrome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1234440" y="38862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5 · 393×727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731520" y="4251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4343400" y="338328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1F5F2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6280" y="3566160"/>
            <a:ext cx="365760" cy="36576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029200" y="35204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Safari</a:t>
            </a:r>
            <a:endParaRPr lang="en-US" sz="1500" dirty="0"/>
          </a:p>
        </p:txBody>
      </p:sp>
      <p:sp>
        <p:nvSpPr>
          <p:cNvPr id="29" name="Text 21"/>
          <p:cNvSpPr/>
          <p:nvPr/>
        </p:nvSpPr>
        <p:spPr>
          <a:xfrm>
            <a:off x="5029200" y="38862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 12 · 390×664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4526280" y="4251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8138160" y="338328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1F5F2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3566160"/>
            <a:ext cx="365760" cy="36576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8823960" y="35204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</a:t>
            </a:r>
            <a:endParaRPr lang="en-US" sz="1500" dirty="0"/>
          </a:p>
        </p:txBody>
      </p:sp>
      <p:sp>
        <p:nvSpPr>
          <p:cNvPr id="34" name="Text 25"/>
          <p:cNvSpPr/>
          <p:nvPr/>
        </p:nvSpPr>
        <p:spPr>
          <a:xfrm>
            <a:off x="8823960" y="38862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iPad Mini · 768×1024</a:t>
            </a:r>
            <a:endParaRPr lang="en-US" sz="1100" dirty="0"/>
          </a:p>
        </p:txBody>
      </p:sp>
      <p:sp>
        <p:nvSpPr>
          <p:cNvPr id="35" name="Text 26"/>
          <p:cNvSpPr/>
          <p:nvPr/>
        </p:nvSpPr>
        <p:spPr>
          <a:xfrm>
            <a:off x="8321040" y="4251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50" dirty="0"/>
          </a:p>
        </p:txBody>
      </p:sp>
      <p:sp>
        <p:nvSpPr>
          <p:cNvPr id="36" name="Shape 27"/>
          <p:cNvSpPr/>
          <p:nvPr/>
        </p:nvSpPr>
        <p:spPr>
          <a:xfrm>
            <a:off x="548640" y="52578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7331F"/>
          </a:solidFill>
          <a:ln/>
        </p:spPr>
      </p:sp>
      <p:sp>
        <p:nvSpPr>
          <p:cNvPr id="37" name="Shape 28"/>
          <p:cNvSpPr/>
          <p:nvPr/>
        </p:nvSpPr>
        <p:spPr>
          <a:xfrm>
            <a:off x="777240" y="5468112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0450" y="5551322"/>
            <a:ext cx="473659" cy="473659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1600200" y="539496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on mobile viewports, "Account" and "Bag" nav labels are intentionally hidden behind a hamburger menu (responsive design) — confirmed as correct behavior, not a defect.</a:t>
            </a:r>
            <a:endParaRPr lang="en-US" sz="1300" dirty="0"/>
          </a:p>
        </p:txBody>
      </p:sp>
      <p:sp>
        <p:nvSpPr>
          <p:cNvPr id="40" name="Text 3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Zuna E-commerce QA — SkillShikshya Batch 10</a:t>
            </a:r>
            <a:endParaRPr lang="en-US" sz="900" dirty="0"/>
          </a:p>
        </p:txBody>
      </p:sp>
      <p:sp>
        <p:nvSpPr>
          <p:cNvPr id="41" name="Text 31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Performance, Security &amp; Database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611880" cy="4754880"/>
          </a:xfrm>
          <a:prstGeom prst="roundRect">
            <a:avLst>
              <a:gd name="adj" fmla="val 2025"/>
            </a:avLst>
          </a:prstGeom>
          <a:solidFill>
            <a:srgbClr val="F1F5F2"/>
          </a:solidFill>
          <a:ln/>
        </p:spPr>
      </p:sp>
      <p:sp>
        <p:nvSpPr>
          <p:cNvPr id="4" name="Shape 2"/>
          <p:cNvSpPr/>
          <p:nvPr/>
        </p:nvSpPr>
        <p:spPr>
          <a:xfrm>
            <a:off x="1943100" y="1600200"/>
            <a:ext cx="822960" cy="8229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0085" y="1707185"/>
            <a:ext cx="608990" cy="6089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5603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2960" y="3191256"/>
            <a:ext cx="91440" cy="914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5"/>
          <p:cNvSpPr/>
          <p:nvPr/>
        </p:nvSpPr>
        <p:spPr>
          <a:xfrm>
            <a:off x="1051560" y="30632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JMeter load test — 20 samples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22960" y="3849624"/>
            <a:ext cx="91440" cy="914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3721608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error rate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22960" y="4507992"/>
            <a:ext cx="91440" cy="914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9"/>
          <p:cNvSpPr/>
          <p:nvPr/>
        </p:nvSpPr>
        <p:spPr>
          <a:xfrm>
            <a:off x="1051560" y="4379976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302ms average response time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22960" y="5166360"/>
            <a:ext cx="91440" cy="914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4" name="Text 11"/>
          <p:cNvSpPr/>
          <p:nvPr/>
        </p:nvSpPr>
        <p:spPr>
          <a:xfrm>
            <a:off x="1051560" y="5038344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concerns at tested load level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43400" y="1280160"/>
            <a:ext cx="3611880" cy="4754880"/>
          </a:xfrm>
          <a:prstGeom prst="roundRect">
            <a:avLst>
              <a:gd name="adj" fmla="val 2025"/>
            </a:avLst>
          </a:prstGeom>
          <a:solidFill>
            <a:srgbClr val="F1F5F2"/>
          </a:solidFill>
          <a:ln/>
        </p:spPr>
      </p:sp>
      <p:sp>
        <p:nvSpPr>
          <p:cNvPr id="16" name="Shape 13"/>
          <p:cNvSpPr/>
          <p:nvPr/>
        </p:nvSpPr>
        <p:spPr>
          <a:xfrm>
            <a:off x="5737860" y="1600200"/>
            <a:ext cx="822960" cy="8229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4845" y="1707185"/>
            <a:ext cx="608990" cy="60899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26280" y="25603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4617720" y="3191256"/>
            <a:ext cx="91440" cy="914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0" name="Text 16"/>
          <p:cNvSpPr/>
          <p:nvPr/>
        </p:nvSpPr>
        <p:spPr>
          <a:xfrm>
            <a:off x="4846320" y="30632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baseline authentication &amp; access checks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4617720" y="3849624"/>
            <a:ext cx="91440" cy="914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2" name="Text 18"/>
          <p:cNvSpPr/>
          <p:nvPr/>
        </p:nvSpPr>
        <p:spPr>
          <a:xfrm>
            <a:off x="4846320" y="3721608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critical vulnerabilities found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4617720" y="4507992"/>
            <a:ext cx="91440" cy="914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4" name="Text 20"/>
          <p:cNvSpPr/>
          <p:nvPr/>
        </p:nvSpPr>
        <p:spPr>
          <a:xfrm>
            <a:off x="4846320" y="4379976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baseline only — not a full penetration test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8138160" y="1280160"/>
            <a:ext cx="3611880" cy="4754880"/>
          </a:xfrm>
          <a:prstGeom prst="roundRect">
            <a:avLst>
              <a:gd name="adj" fmla="val 2025"/>
            </a:avLst>
          </a:prstGeom>
          <a:solidFill>
            <a:srgbClr val="F1F5F2"/>
          </a:solidFill>
          <a:ln/>
        </p:spPr>
      </p:sp>
      <p:sp>
        <p:nvSpPr>
          <p:cNvPr id="26" name="Shape 22"/>
          <p:cNvSpPr/>
          <p:nvPr/>
        </p:nvSpPr>
        <p:spPr>
          <a:xfrm>
            <a:off x="9532620" y="1600200"/>
            <a:ext cx="822960" cy="8229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9605" y="1707185"/>
            <a:ext cx="608990" cy="60899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321040" y="25603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Validation</a:t>
            </a:r>
            <a:endParaRPr lang="en-US" sz="1600" dirty="0"/>
          </a:p>
        </p:txBody>
      </p:sp>
      <p:sp>
        <p:nvSpPr>
          <p:cNvPr id="29" name="Shape 24"/>
          <p:cNvSpPr/>
          <p:nvPr/>
        </p:nvSpPr>
        <p:spPr>
          <a:xfrm>
            <a:off x="8412480" y="3191256"/>
            <a:ext cx="91440" cy="914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0" name="Text 25"/>
          <p:cNvSpPr/>
          <p:nvPr/>
        </p:nvSpPr>
        <p:spPr>
          <a:xfrm>
            <a:off x="8641080" y="30632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consistency checks vs. CRM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8412480" y="3849624"/>
            <a:ext cx="91440" cy="914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2" name="Text 27"/>
          <p:cNvSpPr/>
          <p:nvPr/>
        </p:nvSpPr>
        <p:spPr>
          <a:xfrm>
            <a:off x="8641080" y="3721608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Surfaced payment/delivery mismatch (BUG-006)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8412480" y="4507992"/>
            <a:ext cx="91440" cy="914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4" name="Text 29"/>
          <p:cNvSpPr/>
          <p:nvPr/>
        </p:nvSpPr>
        <p:spPr>
          <a:xfrm>
            <a:off x="8641080" y="4379976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Surfaced orphaned product reference (BUG-008)</a:t>
            </a:r>
            <a:endParaRPr lang="en-US" sz="1100" dirty="0"/>
          </a:p>
        </p:txBody>
      </p:sp>
      <p:sp>
        <p:nvSpPr>
          <p:cNvPr id="35" name="Text 3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Zuna E-commerce QA — SkillShikshya Batch 10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3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738" y="598018"/>
            <a:ext cx="541325" cy="5413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&amp; Limitations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20452B"/>
          </a:solidFill>
          <a:ln/>
        </p:spPr>
      </p:sp>
      <p:sp>
        <p:nvSpPr>
          <p:cNvPr id="6" name="Shape 3"/>
          <p:cNvSpPr/>
          <p:nvPr/>
        </p:nvSpPr>
        <p:spPr>
          <a:xfrm>
            <a:off x="777240" y="1984248"/>
            <a:ext cx="274320" cy="274320"/>
          </a:xfrm>
          <a:prstGeom prst="ellipse">
            <a:avLst/>
          </a:prstGeom>
          <a:solidFill>
            <a:srgbClr val="C9821A"/>
          </a:solidFill>
          <a:ln/>
        </p:spPr>
      </p:sp>
      <p:sp>
        <p:nvSpPr>
          <p:cNvPr id="7" name="Text 4"/>
          <p:cNvSpPr/>
          <p:nvPr/>
        </p:nvSpPr>
        <p:spPr>
          <a:xfrm>
            <a:off x="1234440" y="1773936"/>
            <a:ext cx="10149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verification blocks full end-to-end automation of order confirmation without SMS gateway access.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816352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20452B"/>
          </a:solidFill>
          <a:ln/>
        </p:spPr>
      </p:sp>
      <p:sp>
        <p:nvSpPr>
          <p:cNvPr id="9" name="Shape 6"/>
          <p:cNvSpPr/>
          <p:nvPr/>
        </p:nvSpPr>
        <p:spPr>
          <a:xfrm>
            <a:off x="777240" y="3154680"/>
            <a:ext cx="274320" cy="274320"/>
          </a:xfrm>
          <a:prstGeom prst="ellipse">
            <a:avLst/>
          </a:prstGeom>
          <a:solidFill>
            <a:srgbClr val="C9821A"/>
          </a:solidFill>
          <a:ln/>
        </p:spPr>
      </p:sp>
      <p:sp>
        <p:nvSpPr>
          <p:cNvPr id="10" name="Text 7"/>
          <p:cNvSpPr/>
          <p:nvPr/>
        </p:nvSpPr>
        <p:spPr>
          <a:xfrm>
            <a:off x="1234440" y="2944368"/>
            <a:ext cx="10149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testing scope was limited to 4 baseline checks — not a comprehensive penetration test.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3986784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20452B"/>
          </a:solidFill>
          <a:ln/>
        </p:spPr>
      </p:sp>
      <p:sp>
        <p:nvSpPr>
          <p:cNvPr id="12" name="Shape 9"/>
          <p:cNvSpPr/>
          <p:nvPr/>
        </p:nvSpPr>
        <p:spPr>
          <a:xfrm>
            <a:off x="777240" y="4325112"/>
            <a:ext cx="274320" cy="274320"/>
          </a:xfrm>
          <a:prstGeom prst="ellipse">
            <a:avLst/>
          </a:prstGeom>
          <a:solidFill>
            <a:srgbClr val="C9821A"/>
          </a:solidFill>
          <a:ln/>
        </p:spPr>
      </p:sp>
      <p:sp>
        <p:nvSpPr>
          <p:cNvPr id="13" name="Text 10"/>
          <p:cNvSpPr/>
          <p:nvPr/>
        </p:nvSpPr>
        <p:spPr>
          <a:xfrm>
            <a:off x="1234440" y="4114800"/>
            <a:ext cx="10149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Test/junk data present in the production database may affect reporting widget accuracy (e.g., Top Selling Products).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48640" y="5157216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20452B"/>
          </a:solidFill>
          <a:ln/>
        </p:spPr>
      </p:sp>
      <p:sp>
        <p:nvSpPr>
          <p:cNvPr id="15" name="Shape 12"/>
          <p:cNvSpPr/>
          <p:nvPr/>
        </p:nvSpPr>
        <p:spPr>
          <a:xfrm>
            <a:off x="777240" y="5495544"/>
            <a:ext cx="274320" cy="274320"/>
          </a:xfrm>
          <a:prstGeom prst="ellipse">
            <a:avLst/>
          </a:prstGeom>
          <a:solidFill>
            <a:srgbClr val="C9821A"/>
          </a:solidFill>
          <a:ln/>
        </p:spPr>
      </p:sp>
      <p:sp>
        <p:nvSpPr>
          <p:cNvPr id="16" name="Text 13"/>
          <p:cNvSpPr/>
          <p:nvPr/>
        </p:nvSpPr>
        <p:spPr>
          <a:xfrm>
            <a:off x="1234440" y="5285232"/>
            <a:ext cx="10149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eSewa/Khalti unavailability is a business configuration decision to confirm with the client, not a code fix.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Zuna E-commerce QA — SkillShikshya Batch 10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Zuna E-commerce QA — SkillShikshya Batch 10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794" y="546354"/>
            <a:ext cx="507492" cy="5074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1F5F2"/>
          </a:solidFill>
          <a:ln/>
        </p:spPr>
      </p:sp>
      <p:sp>
        <p:nvSpPr>
          <p:cNvPr id="6" name="Shape 3"/>
          <p:cNvSpPr/>
          <p:nvPr/>
        </p:nvSpPr>
        <p:spPr>
          <a:xfrm>
            <a:off x="749808" y="1527048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1527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261872" y="149047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payment/delivery status inconsistency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261872" y="187452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ONMMIC and audit similar orders (BUG-006)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17920" y="132588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1F5F2"/>
          </a:solidFill>
          <a:ln/>
        </p:spPr>
      </p:sp>
      <p:sp>
        <p:nvSpPr>
          <p:cNvPr id="11" name="Shape 8"/>
          <p:cNvSpPr/>
          <p:nvPr/>
        </p:nvSpPr>
        <p:spPr>
          <a:xfrm>
            <a:off x="6419088" y="1527048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9"/>
          <p:cNvSpPr/>
          <p:nvPr/>
        </p:nvSpPr>
        <p:spPr>
          <a:xfrm>
            <a:off x="6419088" y="1527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931152" y="149047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product review submission UI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931152" y="187452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current path for customers to leave reviews (BUG-002)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297180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1F5F2"/>
          </a:solidFill>
          <a:ln/>
        </p:spPr>
      </p:sp>
      <p:sp>
        <p:nvSpPr>
          <p:cNvPr id="16" name="Shape 13"/>
          <p:cNvSpPr/>
          <p:nvPr/>
        </p:nvSpPr>
        <p:spPr>
          <a:xfrm>
            <a:off x="749808" y="3172968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7" name="Text 14"/>
          <p:cNvSpPr/>
          <p:nvPr/>
        </p:nvSpPr>
        <p:spPr>
          <a:xfrm>
            <a:off x="749808" y="3172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261872" y="31363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search icon &amp; fix routing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1261872" y="352044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/store/collections returns 404; search icon missing (BUG-003, 004)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217920" y="297180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1F5F2"/>
          </a:solidFill>
          <a:ln/>
        </p:spPr>
      </p:sp>
      <p:sp>
        <p:nvSpPr>
          <p:cNvPr id="21" name="Shape 18"/>
          <p:cNvSpPr/>
          <p:nvPr/>
        </p:nvSpPr>
        <p:spPr>
          <a:xfrm>
            <a:off x="6419088" y="3172968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2" name="Text 19"/>
          <p:cNvSpPr/>
          <p:nvPr/>
        </p:nvSpPr>
        <p:spPr>
          <a:xfrm>
            <a:off x="6419088" y="3172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931152" y="31363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up orphaned data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6931152" y="352044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Top Selling Products reference; remove test data from production (BUG-008, OBS-008)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48640" y="461772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1F5F2"/>
          </a:solidFill>
          <a:ln/>
        </p:spPr>
      </p:sp>
      <p:sp>
        <p:nvSpPr>
          <p:cNvPr id="26" name="Shape 23"/>
          <p:cNvSpPr/>
          <p:nvPr/>
        </p:nvSpPr>
        <p:spPr>
          <a:xfrm>
            <a:off x="749808" y="4818888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7" name="Text 24"/>
          <p:cNvSpPr/>
          <p:nvPr/>
        </p:nvSpPr>
        <p:spPr>
          <a:xfrm>
            <a:off x="749808" y="4818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1261872" y="478231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payment gateway settings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1261872" y="516636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decision needed on enabling eSewa/Khalti (BUG-001)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217920" y="461772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1F5F2"/>
          </a:solidFill>
          <a:ln/>
        </p:spPr>
      </p:sp>
      <p:sp>
        <p:nvSpPr>
          <p:cNvPr id="31" name="Shape 28"/>
          <p:cNvSpPr/>
          <p:nvPr/>
        </p:nvSpPr>
        <p:spPr>
          <a:xfrm>
            <a:off x="6419088" y="4818888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2" name="Text 29"/>
          <p:cNvSpPr/>
          <p:nvPr/>
        </p:nvSpPr>
        <p:spPr>
          <a:xfrm>
            <a:off x="6419088" y="4818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6931152" y="478231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OTP bypass for test environment</a:t>
            </a:r>
            <a:endParaRPr lang="en-US" sz="1350" dirty="0"/>
          </a:p>
        </p:txBody>
      </p:sp>
      <p:sp>
        <p:nvSpPr>
          <p:cNvPr id="34" name="Text 31"/>
          <p:cNvSpPr/>
          <p:nvPr/>
        </p:nvSpPr>
        <p:spPr>
          <a:xfrm>
            <a:off x="6931152" y="516636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allow full end-to-end confirmation automation in future cycles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Zuna E-commerce QA — SkillShikshya Batch 10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3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4114800"/>
            <a:ext cx="4572000" cy="4572000"/>
          </a:xfrm>
          <a:prstGeom prst="ellipse">
            <a:avLst/>
          </a:prstGeom>
          <a:solidFill>
            <a:srgbClr val="2C5F2D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6B908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945" y="929945"/>
            <a:ext cx="608990" cy="6089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265176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F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Zuna e-commerce platform’s core purchase flow is functionally stable and performs well under light load. Testing surfaced a manageable set of medium-priority defects and low-priority observations — none blocking core transactions. Automated regression and cross-browser coverage are now in place to support future testing cycles.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48463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8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22960" y="5440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6309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Anita Singh  |  SkillShikshya QA Batch 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2026-08-13T07:31:30Z</dcterms:created>
  <dcterms:modified xsi:type="dcterms:W3CDTF">2026-08-13T07:31:30Z</dcterms:modified>
</cp:coreProperties>
</file>